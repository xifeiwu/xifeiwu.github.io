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1662" r:id="rId2"/>
    <p:sldId id="1661" r:id="rId3"/>
    <p:sldId id="1663" r:id="rId4"/>
    <p:sldId id="1664" r:id="rId5"/>
    <p:sldId id="1665" r:id="rId6"/>
    <p:sldId id="1666" r:id="rId7"/>
    <p:sldId id="1671" r:id="rId8"/>
    <p:sldId id="1667" r:id="rId9"/>
    <p:sldId id="1668" r:id="rId10"/>
    <p:sldId id="1669" r:id="rId11"/>
    <p:sldId id="1674" r:id="rId12"/>
    <p:sldId id="1670" r:id="rId13"/>
    <p:sldId id="1675" r:id="rId14"/>
    <p:sldId id="1679" r:id="rId15"/>
    <p:sldId id="1678" r:id="rId16"/>
    <p:sldId id="1676" r:id="rId17"/>
    <p:sldId id="1677" r:id="rId18"/>
    <p:sldId id="1673" r:id="rId19"/>
  </p:sldIdLst>
  <p:sldSz cx="9906000" cy="6858000" type="A4"/>
  <p:notesSz cx="6797675" cy="9928225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bg2"/>
        </a:solidFill>
        <a:latin typeface="Times New Roman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FFCC"/>
    <a:srgbClr val="000000"/>
    <a:srgbClr val="001D3A"/>
    <a:srgbClr val="000066"/>
    <a:srgbClr val="C8860E"/>
    <a:srgbClr val="0000FF"/>
    <a:srgbClr val="FF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2" autoAdjust="0"/>
    <p:restoredTop sz="96870" autoAdjust="0"/>
  </p:normalViewPr>
  <p:slideViewPr>
    <p:cSldViewPr>
      <p:cViewPr>
        <p:scale>
          <a:sx n="100" d="100"/>
          <a:sy n="100" d="100"/>
        </p:scale>
        <p:origin x="-1242" y="-23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-3342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t" anchorCtr="0" compatLnSpc="1">
            <a:prstTxWarp prst="textNoShape">
              <a:avLst/>
            </a:prstTxWarp>
          </a:bodyPr>
          <a:lstStyle>
            <a:lvl1pPr algn="l" defTabSz="909638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42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t" anchorCtr="0" compatLnSpc="1">
            <a:prstTxWarp prst="textNoShape">
              <a:avLst/>
            </a:prstTxWarp>
          </a:bodyPr>
          <a:lstStyle>
            <a:lvl1pPr algn="r" defTabSz="909638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42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b" anchorCtr="0" compatLnSpc="1">
            <a:prstTxWarp prst="textNoShape">
              <a:avLst/>
            </a:prstTxWarp>
          </a:bodyPr>
          <a:lstStyle>
            <a:lvl1pPr algn="l" defTabSz="909638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42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b" anchorCtr="0" compatLnSpc="1">
            <a:prstTxWarp prst="textNoShape">
              <a:avLst/>
            </a:prstTxWarp>
          </a:bodyPr>
          <a:lstStyle>
            <a:lvl1pPr algn="r" defTabSz="909638">
              <a:defRPr sz="1200"/>
            </a:lvl1pPr>
          </a:lstStyle>
          <a:p>
            <a:pPr>
              <a:defRPr/>
            </a:pPr>
            <a:fld id="{2E654183-D5CD-414B-85F1-8A2B8571CA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1921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t" anchorCtr="0" compatLnSpc="1">
            <a:prstTxWarp prst="textNoShape">
              <a:avLst/>
            </a:prstTxWarp>
          </a:bodyPr>
          <a:lstStyle>
            <a:lvl1pPr algn="l" defTabSz="909638"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t" anchorCtr="0" compatLnSpc="1">
            <a:prstTxWarp prst="textNoShape">
              <a:avLst/>
            </a:prstTxWarp>
          </a:bodyPr>
          <a:lstStyle>
            <a:lvl1pPr algn="r" defTabSz="909638"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7210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3288"/>
            <a:ext cx="4984750" cy="44688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b" anchorCtr="0" compatLnSpc="1">
            <a:prstTxWarp prst="textNoShape">
              <a:avLst/>
            </a:prstTxWarp>
          </a:bodyPr>
          <a:lstStyle>
            <a:lvl1pPr algn="l" defTabSz="909638"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122" tIns="45561" rIns="91122" bIns="45561" numCol="1" anchor="b" anchorCtr="0" compatLnSpc="1">
            <a:prstTxWarp prst="textNoShape">
              <a:avLst/>
            </a:prstTxWarp>
          </a:bodyPr>
          <a:lstStyle>
            <a:lvl1pPr algn="r" defTabSz="909638"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03BC580A-F456-4275-A493-FB4EB118C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4258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ckgroud-blue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561975"/>
            <a:ext cx="9925050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软件所所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263" y="112713"/>
            <a:ext cx="1366837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iscas-mz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8" y="96838"/>
            <a:ext cx="214153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824663" y="333375"/>
            <a:ext cx="2808287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1000" b="0" smtClean="0">
                <a:solidFill>
                  <a:srgbClr val="777777"/>
                </a:solidFill>
                <a:ea typeface="华文行楷" pitchFamily="2" charset="-122"/>
              </a:rPr>
              <a:t>Institute of Software,Chinese Academy of Sciences</a:t>
            </a:r>
          </a:p>
        </p:txBody>
      </p:sp>
      <p:sp>
        <p:nvSpPr>
          <p:cNvPr id="191386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488950" y="1828800"/>
            <a:ext cx="8928100" cy="1744663"/>
          </a:xfrm>
          <a:noFill/>
          <a:extLst/>
        </p:spPr>
        <p:txBody>
          <a:bodyPr lIns="91440" rIns="91440"/>
          <a:lstStyle>
            <a:lvl1pPr algn="ctr">
              <a:defRPr sz="4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dirty="0" smtClean="0"/>
          </a:p>
        </p:txBody>
      </p:sp>
      <p:sp>
        <p:nvSpPr>
          <p:cNvPr id="191386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647825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276931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800"/>
              </a:spcBef>
              <a:buClr>
                <a:srgbClr val="0000FF"/>
              </a:buClr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105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5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05750" y="6237288"/>
            <a:ext cx="1905000" cy="457200"/>
          </a:xfrm>
        </p:spPr>
        <p:txBody>
          <a:bodyPr/>
          <a:lstStyle>
            <a:lvl1pPr>
              <a:defRPr sz="1400" b="1" i="0" baseline="0">
                <a:solidFill>
                  <a:srgbClr val="001D3A"/>
                </a:solidFill>
              </a:defRPr>
            </a:lvl1pPr>
          </a:lstStyle>
          <a:p>
            <a:pPr>
              <a:defRPr/>
            </a:pPr>
            <a:fld id="{BAFEC8FD-091C-43FA-8D41-C6B74DF5FC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6495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018642-4914-4182-9950-FF3BC7751A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56794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8950" y="1412875"/>
            <a:ext cx="438785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412875"/>
            <a:ext cx="438785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ADF3C-1D5F-4AAC-8B62-3ED2F4530E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3084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456C3-146F-4B10-9909-2CCB9B0C81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74232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9E999-D145-4F14-9C33-5D209E36BC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375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EFF7F-2F4F-488B-B1F6-1DDAF1CA6D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9231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92062-DD47-428A-83D1-CCE59958D0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602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3E1E3-DFC2-4A13-A6F2-3127B66F96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50175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A0BDD-0D84-4D39-B6F6-161A2CB6D6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05412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29500" y="568325"/>
            <a:ext cx="2476500" cy="54530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568325"/>
            <a:ext cx="7277100" cy="54530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5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5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5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2803E-F572-4BD2-ABF9-5B30A5748A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3368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63" descr="backgroud-bluefram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561975"/>
            <a:ext cx="9925050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47" descr="软件所所徽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850" y="112713"/>
            <a:ext cx="1366838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056" descr="iscas-mz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8" y="96838"/>
            <a:ext cx="214153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1045"/>
          <p:cNvSpPr txBox="1">
            <a:spLocks noChangeArrowheads="1"/>
          </p:cNvSpPr>
          <p:nvPr/>
        </p:nvSpPr>
        <p:spPr bwMode="auto">
          <a:xfrm>
            <a:off x="6824663" y="333375"/>
            <a:ext cx="2808287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1000" b="0" smtClean="0">
                <a:solidFill>
                  <a:srgbClr val="777777"/>
                </a:solidFill>
                <a:ea typeface="华文行楷" pitchFamily="2" charset="-122"/>
              </a:rPr>
              <a:t>Institute of Software,Chinese Academy of Sciences</a:t>
            </a:r>
          </a:p>
        </p:txBody>
      </p:sp>
      <p:sp>
        <p:nvSpPr>
          <p:cNvPr id="3105" name="Rectangle 105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205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06" name="Rectangle 105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205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07" name="Rectangle 105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205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CC"/>
                </a:solidFill>
                <a:ea typeface="+mn-ea"/>
              </a:defRPr>
            </a:lvl1pPr>
          </a:lstStyle>
          <a:p>
            <a:pPr>
              <a:defRPr/>
            </a:pPr>
            <a:fld id="{4A683BC8-B7C0-476C-8E47-98AB167ED0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Rectangle 106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412875"/>
            <a:ext cx="89281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3109" name="Rectangle 1061"/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0" y="568325"/>
            <a:ext cx="9906000" cy="557213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  <a:extLst/>
        </p:spPr>
        <p:txBody>
          <a:bodyPr vert="horz" wrap="square" lIns="288000" tIns="45720" rIns="288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单击此处编辑母版标题样式文件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91" r:id="rId1"/>
    <p:sldLayoutId id="2147484492" r:id="rId2"/>
    <p:sldLayoutId id="2147484482" r:id="rId3"/>
    <p:sldLayoutId id="2147484483" r:id="rId4"/>
    <p:sldLayoutId id="2147484484" r:id="rId5"/>
    <p:sldLayoutId id="2147484485" r:id="rId6"/>
    <p:sldLayoutId id="2147484486" r:id="rId7"/>
    <p:sldLayoutId id="2147484487" r:id="rId8"/>
    <p:sldLayoutId id="2147484488" r:id="rId9"/>
    <p:sldLayoutId id="2147484489" r:id="rId10"/>
    <p:sldLayoutId id="2147484490" r:id="rId11"/>
  </p:sldLayoutIdLst>
  <p:transition/>
  <p:hf hdr="0" ftr="0" dt="0"/>
  <p:txStyles>
    <p:titleStyle>
      <a:lvl1pPr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2pPr>
      <a:lvl3pPr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3pPr>
      <a:lvl4pPr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4pPr>
      <a:lvl5pPr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Narrow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5050"/>
        </a:buClr>
        <a:buSzPct val="120000"/>
        <a:buFont typeface="Wingdings" pitchFamily="2" charset="2"/>
        <a:buChar char="§"/>
        <a:defRPr kumimoji="1" sz="2600" b="1">
          <a:solidFill>
            <a:srgbClr val="000000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v"/>
        <a:defRPr kumimoji="1" sz="2400" b="1">
          <a:solidFill>
            <a:srgbClr val="0000FF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 charset="2"/>
        <a:buChar char="F"/>
        <a:defRPr kumimoji="1" sz="2000" b="1">
          <a:solidFill>
            <a:srgbClr val="A50021"/>
          </a:solidFill>
          <a:latin typeface="+mn-lt"/>
          <a:ea typeface="楷体_GB2312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kumimoji="1" sz="2000" b="1">
          <a:solidFill>
            <a:srgbClr val="292929"/>
          </a:solidFill>
          <a:latin typeface="+mn-lt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 b="1">
          <a:solidFill>
            <a:srgbClr val="FF3300"/>
          </a:solidFill>
          <a:latin typeface="+mn-lt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>
          <a:solidFill>
            <a:srgbClr val="1C1C1C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>
          <a:solidFill>
            <a:srgbClr val="1C1C1C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>
          <a:solidFill>
            <a:srgbClr val="1C1C1C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>
          <a:solidFill>
            <a:srgbClr val="1C1C1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org/package/node-dbus" TargetMode="External"/><Relationship Id="rId2" Type="http://schemas.openxmlformats.org/officeDocument/2006/relationships/hyperlink" Target="http://dailyjs.com/2012/04/26/node-unix-ip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otorola-Mobility/node-dbus" TargetMode="External"/><Relationship Id="rId4" Type="http://schemas.openxmlformats.org/officeDocument/2006/relationships/hyperlink" Target="https://github.com/Shouqun/node-dbu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gnat/node_libdbu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CN" dirty="0" smtClean="0">
              <a:latin typeface="仿宋_GB2312" charset="-122"/>
              <a:ea typeface="仿宋_GB2312" charset="-122"/>
            </a:endParaRPr>
          </a:p>
          <a:p>
            <a:r>
              <a:rPr lang="zh-CN" altLang="en-US" dirty="0">
                <a:latin typeface="仿宋_GB2312" charset="-122"/>
                <a:ea typeface="仿宋_GB2312" charset="-122"/>
              </a:rPr>
              <a:t>吴西飞</a:t>
            </a:r>
            <a:endParaRPr lang="en-US" altLang="zh-CN" dirty="0">
              <a:latin typeface="仿宋_GB2312" charset="-122"/>
              <a:ea typeface="仿宋_GB2312" charset="-122"/>
            </a:endParaRPr>
          </a:p>
          <a:p>
            <a:r>
              <a:rPr lang="en-US" altLang="zh-CN" dirty="0">
                <a:latin typeface="仿宋_GB2312" charset="-122"/>
                <a:ea typeface="仿宋_GB2312" charset="-122"/>
              </a:rPr>
              <a:t>    2014</a:t>
            </a:r>
            <a:r>
              <a:rPr lang="zh-CN" altLang="en-US" dirty="0">
                <a:latin typeface="仿宋_GB2312" charset="-122"/>
                <a:ea typeface="仿宋_GB2312" charset="-122"/>
              </a:rPr>
              <a:t>年</a:t>
            </a:r>
            <a:r>
              <a:rPr lang="en-US" altLang="zh-CN" dirty="0">
                <a:latin typeface="仿宋_GB2312" charset="-122"/>
                <a:ea typeface="仿宋_GB2312" charset="-122"/>
              </a:rPr>
              <a:t>8</a:t>
            </a:r>
            <a:r>
              <a:rPr lang="zh-CN" altLang="en-US" dirty="0">
                <a:latin typeface="仿宋_GB2312" charset="-122"/>
                <a:ea typeface="仿宋_GB2312" charset="-122"/>
              </a:rPr>
              <a:t>月</a:t>
            </a:r>
            <a:r>
              <a:rPr lang="en-US" altLang="zh-CN" dirty="0">
                <a:latin typeface="仿宋_GB2312" charset="-122"/>
                <a:ea typeface="仿宋_GB2312" charset="-122"/>
              </a:rPr>
              <a:t>19</a:t>
            </a:r>
            <a:r>
              <a:rPr lang="zh-CN" altLang="en-US" dirty="0">
                <a:latin typeface="仿宋_GB2312" charset="-122"/>
                <a:ea typeface="仿宋_GB2312" charset="-122"/>
              </a:rPr>
              <a:t>日</a:t>
            </a:r>
          </a:p>
          <a:p>
            <a:endParaRPr lang="zh-CN" altLang="en-US" dirty="0" smtClean="0"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237288"/>
            <a:ext cx="1905000" cy="457200"/>
          </a:xfrm>
        </p:spPr>
        <p:txBody>
          <a:bodyPr/>
          <a:lstStyle/>
          <a:p>
            <a:pPr>
              <a:defRPr/>
            </a:pPr>
            <a:fld id="{21533825-5EFA-4464-9409-AACCE659CA3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" name="标题 4"/>
          <p:cNvSpPr txBox="1">
            <a:spLocks noChangeAspect="1" noChangeArrowheads="1"/>
          </p:cNvSpPr>
          <p:nvPr/>
        </p:nvSpPr>
        <p:spPr bwMode="auto">
          <a:xfrm>
            <a:off x="560512" y="1669207"/>
            <a:ext cx="8928100" cy="1744663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  <a:extLst/>
        </p:spPr>
        <p:txBody>
          <a:bodyPr vert="horz" wrap="square" lIns="288000" tIns="45720" rIns="28800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2pPr>
            <a:lvl3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3pPr>
            <a:lvl4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4pPr>
            <a:lvl5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5pPr>
            <a:lvl6pPr marL="457200"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6pPr>
            <a:lvl7pPr marL="914400"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7pPr>
            <a:lvl8pPr marL="1371600"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8pPr>
            <a:lvl9pPr marL="1828800"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ea typeface="黑体" pitchFamily="2" charset="-122"/>
              </a:defRPr>
            </a:lvl9pPr>
          </a:lstStyle>
          <a:p>
            <a:pPr algn="ctr"/>
            <a:r>
              <a:rPr lang="en-US" altLang="zh-CN" sz="4000" dirty="0" smtClean="0">
                <a:solidFill>
                  <a:srgbClr val="FFFFCC"/>
                </a:solidFill>
              </a:rPr>
              <a:t>D-Bus</a:t>
            </a:r>
            <a:r>
              <a:rPr lang="zh-CN" altLang="en-US" sz="4000" dirty="0">
                <a:solidFill>
                  <a:srgbClr val="FFFFCC"/>
                </a:solidFill>
              </a:rPr>
              <a:t>调研</a:t>
            </a:r>
            <a:endParaRPr lang="zh-CN" altLang="en-US" sz="4000" kern="0" dirty="0">
              <a:solidFill>
                <a:srgbClr val="FFFFC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目录</a:t>
            </a:r>
            <a:endParaRPr lang="zh-CN" altLang="en-US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r>
              <a:rPr lang="en-US" altLang="zh-CN" dirty="0" smtClean="0"/>
              <a:t>D-Bus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en-US" altLang="zh-CN" dirty="0" smtClean="0"/>
              <a:t>Process </a:t>
            </a:r>
            <a:r>
              <a:rPr lang="en-US" altLang="zh-CN" dirty="0"/>
              <a:t>of Method-Call on D-Bus</a:t>
            </a:r>
            <a:endParaRPr lang="en-US" altLang="zh-CN" dirty="0" smtClean="0"/>
          </a:p>
          <a:p>
            <a:r>
              <a:rPr lang="zh-CN" altLang="en-US" dirty="0" smtClean="0"/>
              <a:t>实例代码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method call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 signal emit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libdbus</a:t>
            </a:r>
            <a:r>
              <a:rPr lang="en-US" altLang="zh-CN" dirty="0" smtClean="0"/>
              <a:t>, bus-glib</a:t>
            </a:r>
            <a:r>
              <a:rPr lang="en-US" altLang="zh-CN" smtClean="0"/>
              <a:t>, python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现有接口调用：</a:t>
            </a:r>
            <a:r>
              <a:rPr lang="en-US" altLang="zh-CN" dirty="0" err="1" smtClean="0"/>
              <a:t>org.freedesktop.Notification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不同语言之间的</a:t>
            </a:r>
            <a:r>
              <a:rPr lang="en-US" altLang="zh-CN" dirty="0" err="1" smtClean="0"/>
              <a:t>dbus</a:t>
            </a:r>
            <a:r>
              <a:rPr lang="zh-CN" altLang="en-US" dirty="0" smtClean="0"/>
              <a:t>通信</a:t>
            </a:r>
            <a:endParaRPr lang="en-US" altLang="zh-CN" dirty="0" smtClean="0"/>
          </a:p>
          <a:p>
            <a:r>
              <a:rPr lang="en-US" altLang="zh-CN" dirty="0"/>
              <a:t>D-Bus</a:t>
            </a:r>
            <a:r>
              <a:rPr lang="zh-CN" altLang="en-US" dirty="0"/>
              <a:t>相关</a:t>
            </a:r>
            <a:r>
              <a:rPr lang="zh-CN" altLang="en-US" dirty="0" smtClean="0"/>
              <a:t>工具</a:t>
            </a:r>
            <a:endParaRPr lang="en-US" altLang="zh-CN" dirty="0" smtClean="0"/>
          </a:p>
          <a:p>
            <a:r>
              <a:rPr lang="en-US" altLang="zh-CN" dirty="0" err="1" smtClean="0"/>
              <a:t>dbus</a:t>
            </a:r>
            <a:r>
              <a:rPr lang="en-US" altLang="zh-CN" dirty="0" smtClean="0"/>
              <a:t>-binding</a:t>
            </a:r>
            <a:r>
              <a:rPr lang="zh-CN" altLang="en-US" dirty="0" smtClean="0"/>
              <a:t>：</a:t>
            </a:r>
            <a:r>
              <a:rPr lang="en-US" altLang="zh-CN" dirty="0" smtClean="0"/>
              <a:t>node-</a:t>
            </a:r>
            <a:r>
              <a:rPr lang="en-US" altLang="zh-CN" dirty="0" err="1" smtClean="0"/>
              <a:t>dbus</a:t>
            </a:r>
            <a:r>
              <a:rPr lang="en-US" altLang="zh-CN" dirty="0" smtClean="0"/>
              <a:t> go-</a:t>
            </a:r>
            <a:r>
              <a:rPr lang="en-US" altLang="zh-CN" dirty="0" err="1" smtClean="0"/>
              <a:t>dbus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CEA070-F812-4D67-B6F7-901B32626E8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D-Bus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D-Bus </a:t>
            </a:r>
            <a:r>
              <a:rPr lang="en-US" altLang="zh-CN" dirty="0">
                <a:ea typeface="黑体" pitchFamily="49" charset="-122"/>
              </a:rPr>
              <a:t>is a system for </a:t>
            </a:r>
            <a:r>
              <a:rPr lang="en-US" altLang="zh-CN" dirty="0" err="1">
                <a:ea typeface="黑体" pitchFamily="49" charset="-122"/>
              </a:rPr>
              <a:t>interprocess</a:t>
            </a:r>
            <a:r>
              <a:rPr lang="en-US" altLang="zh-CN" dirty="0">
                <a:ea typeface="黑体" pitchFamily="49" charset="-122"/>
              </a:rPr>
              <a:t> communication (</a:t>
            </a:r>
            <a:r>
              <a:rPr lang="en-US" altLang="zh-CN" dirty="0" smtClean="0">
                <a:ea typeface="黑体" pitchFamily="49" charset="-122"/>
              </a:rPr>
              <a:t>IPC). D-Bus </a:t>
            </a:r>
            <a:r>
              <a:rPr lang="en-US" altLang="zh-CN" dirty="0">
                <a:ea typeface="黑体" pitchFamily="49" charset="-122"/>
              </a:rPr>
              <a:t>is intended for potentially high-resolution same-machine IPC, not primarily for Internet </a:t>
            </a:r>
            <a:r>
              <a:rPr lang="en-US" altLang="zh-CN" dirty="0" smtClean="0">
                <a:ea typeface="黑体" pitchFamily="49" charset="-122"/>
              </a:rPr>
              <a:t>IPC.</a:t>
            </a:r>
          </a:p>
          <a:p>
            <a:r>
              <a:rPr lang="en-US" altLang="zh-CN" dirty="0" smtClean="0">
                <a:ea typeface="黑体" pitchFamily="49" charset="-122"/>
              </a:rPr>
              <a:t>low-level </a:t>
            </a:r>
            <a:r>
              <a:rPr lang="en-US" altLang="zh-CN" dirty="0">
                <a:ea typeface="黑体" pitchFamily="49" charset="-122"/>
              </a:rPr>
              <a:t>D-Bus have been heavily tested in the real world over several years, and are now "set in stone."</a:t>
            </a:r>
          </a:p>
          <a:p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IPC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还有：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Android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使用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Binder IPC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、以及被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D-Bus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替代的</a:t>
            </a:r>
            <a:r>
              <a:rPr lang="en-US" altLang="zh-CN" dirty="0" smtClean="0">
                <a:ea typeface="黑体" pitchFamily="49" charset="-122"/>
              </a:rPr>
              <a:t>CORBA</a:t>
            </a:r>
            <a:r>
              <a:rPr lang="zh-CN" altLang="en-US" dirty="0" smtClean="0">
                <a:ea typeface="黑体" pitchFamily="49" charset="-122"/>
              </a:rPr>
              <a:t>，</a:t>
            </a:r>
            <a:r>
              <a:rPr lang="en-US" altLang="zh-CN" dirty="0" smtClean="0">
                <a:ea typeface="黑体" pitchFamily="49" charset="-122"/>
              </a:rPr>
              <a:t>Bonobo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和</a:t>
            </a:r>
            <a:r>
              <a:rPr lang="en-US" altLang="zh-CN" dirty="0">
                <a:ea typeface="黑体" pitchFamily="49" charset="-122"/>
              </a:rPr>
              <a:t>DCOP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xml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格式的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XML-RPC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Window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上使用的</a:t>
            </a:r>
            <a:r>
              <a:rPr lang="en-US" altLang="zh-CN" dirty="0" smtClean="0">
                <a:solidFill>
                  <a:srgbClr val="000000"/>
                </a:solidFill>
                <a:ea typeface="黑体" pitchFamily="49" charset="-122"/>
              </a:rPr>
              <a:t>DCOM (distributed COM)</a:t>
            </a:r>
            <a:r>
              <a:rPr lang="zh-CN" altLang="en-US" dirty="0" smtClean="0">
                <a:solidFill>
                  <a:srgbClr val="000000"/>
                </a:solidFill>
                <a:ea typeface="黑体" pitchFamily="49" charset="-122"/>
              </a:rPr>
              <a:t>等。</a:t>
            </a:r>
            <a:endParaRPr lang="en-US" altLang="zh-CN" dirty="0" smtClean="0">
              <a:solidFill>
                <a:srgbClr val="000000"/>
              </a:solidFill>
              <a:ea typeface="黑体" pitchFamily="49" charset="-122"/>
            </a:endParaRPr>
          </a:p>
          <a:p>
            <a:r>
              <a:rPr lang="en-US" altLang="zh-CN" dirty="0" smtClean="0">
                <a:ea typeface="黑体" pitchFamily="49" charset="-122"/>
              </a:rPr>
              <a:t>D-Bus</a:t>
            </a:r>
            <a:r>
              <a:rPr lang="zh-CN" altLang="en-US" dirty="0" smtClean="0">
                <a:ea typeface="黑体" pitchFamily="49" charset="-122"/>
              </a:rPr>
              <a:t>建立在</a:t>
            </a:r>
            <a:r>
              <a:rPr lang="en-US" altLang="zh-CN" dirty="0" smtClean="0">
                <a:ea typeface="黑体" pitchFamily="49" charset="-122"/>
              </a:rPr>
              <a:t>socket</a:t>
            </a:r>
            <a:r>
              <a:rPr lang="zh-CN" altLang="en-US" dirty="0" smtClean="0">
                <a:ea typeface="黑体" pitchFamily="49" charset="-122"/>
              </a:rPr>
              <a:t>之上，与</a:t>
            </a:r>
            <a:r>
              <a:rPr lang="en-US" altLang="zh-CN" dirty="0" smtClean="0">
                <a:ea typeface="黑体" pitchFamily="49" charset="-122"/>
              </a:rPr>
              <a:t>socket</a:t>
            </a:r>
            <a:r>
              <a:rPr lang="zh-CN" altLang="en-US" dirty="0" smtClean="0">
                <a:ea typeface="黑体" pitchFamily="49" charset="-122"/>
              </a:rPr>
              <a:t>相比</a:t>
            </a:r>
            <a:r>
              <a:rPr lang="en-US" altLang="zh-CN" dirty="0" smtClean="0">
                <a:ea typeface="黑体" pitchFamily="49" charset="-122"/>
              </a:rPr>
              <a:t>2.5x slower</a:t>
            </a:r>
            <a:r>
              <a:rPr lang="zh-CN" altLang="en-US" dirty="0" smtClean="0">
                <a:ea typeface="黑体" pitchFamily="49" charset="-122"/>
              </a:rPr>
              <a:t>：</a:t>
            </a:r>
            <a:r>
              <a:rPr lang="en-US" altLang="zh-CN" dirty="0" smtClean="0">
                <a:ea typeface="黑体" pitchFamily="49" charset="-122"/>
              </a:rPr>
              <a:t>marshaling</a:t>
            </a:r>
            <a:r>
              <a:rPr lang="zh-CN" altLang="en-US" dirty="0" smtClean="0">
                <a:ea typeface="黑体" pitchFamily="49" charset="-122"/>
              </a:rPr>
              <a:t>、</a:t>
            </a:r>
            <a:r>
              <a:rPr lang="en-US" altLang="zh-CN" dirty="0" err="1" smtClean="0">
                <a:ea typeface="黑体" pitchFamily="49" charset="-122"/>
              </a:rPr>
              <a:t>dbus</a:t>
            </a:r>
            <a:r>
              <a:rPr lang="en-US" altLang="zh-CN" dirty="0" smtClean="0">
                <a:ea typeface="黑体" pitchFamily="49" charset="-122"/>
              </a:rPr>
              <a:t>-daemon</a:t>
            </a:r>
            <a:r>
              <a:rPr lang="zh-CN" altLang="en-US" dirty="0" smtClean="0">
                <a:ea typeface="黑体" pitchFamily="49" charset="-122"/>
              </a:rPr>
              <a:t>、</a:t>
            </a:r>
            <a:r>
              <a:rPr lang="en-US" altLang="zh-CN" dirty="0" smtClean="0">
                <a:ea typeface="黑体" pitchFamily="49" charset="-122"/>
              </a:rPr>
              <a:t>security</a:t>
            </a:r>
            <a:r>
              <a:rPr lang="zh-CN" altLang="en-US" dirty="0" smtClean="0">
                <a:ea typeface="黑体" pitchFamily="49" charset="-122"/>
              </a:rPr>
              <a:t>等。</a:t>
            </a:r>
            <a:endParaRPr lang="en-US" altLang="zh-CN" dirty="0" smtClean="0">
              <a:ea typeface="黑体" pitchFamily="49" charset="-122"/>
            </a:endParaRPr>
          </a:p>
          <a:p>
            <a:endParaRPr lang="zh-CN" altLang="en-US" dirty="0" smtClean="0"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CCE50-EEB0-44D0-AB67-36DF18D5DBB8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93789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D</a:t>
            </a:r>
            <a:r>
              <a:rPr lang="zh-CN" altLang="en-US" dirty="0">
                <a:ea typeface="黑体" pitchFamily="49" charset="-122"/>
              </a:rPr>
              <a:t>原先是代表桌面“</a:t>
            </a:r>
            <a:r>
              <a:rPr lang="en-US" altLang="zh-CN" dirty="0">
                <a:ea typeface="黑体" pitchFamily="49" charset="-122"/>
              </a:rPr>
              <a:t>Desktop” </a:t>
            </a:r>
            <a:r>
              <a:rPr lang="zh-CN" altLang="en-US" dirty="0">
                <a:ea typeface="黑体" pitchFamily="49" charset="-122"/>
              </a:rPr>
              <a:t>的意思。</a:t>
            </a:r>
            <a:r>
              <a:rPr lang="zh-CN" altLang="en-US" dirty="0" smtClean="0">
                <a:ea typeface="黑体" pitchFamily="49" charset="-122"/>
              </a:rPr>
              <a:t>即用于</a:t>
            </a:r>
            <a:r>
              <a:rPr lang="zh-CN" altLang="en-US" dirty="0">
                <a:ea typeface="黑体" pitchFamily="49" charset="-122"/>
              </a:rPr>
              <a:t>桌面操作系统的通信</a:t>
            </a:r>
            <a:r>
              <a:rPr lang="zh-CN" altLang="en-US" dirty="0" smtClean="0">
                <a:ea typeface="黑体" pitchFamily="49" charset="-122"/>
              </a:rPr>
              <a:t>总线</a:t>
            </a:r>
            <a:r>
              <a:rPr lang="zh-CN" altLang="en-US" dirty="0">
                <a:ea typeface="黑体" pitchFamily="49" charset="-122"/>
              </a:rPr>
              <a:t>。典型的桌面都会有多个应用程序在运行，而且，它们经常需要彼此进行通信</a:t>
            </a:r>
            <a:r>
              <a:rPr lang="zh-CN" altLang="en-US" dirty="0" smtClean="0">
                <a:ea typeface="黑体" pitchFamily="49" charset="-122"/>
              </a:rPr>
              <a:t>。</a:t>
            </a:r>
            <a:endParaRPr lang="en-US" altLang="zh-CN" dirty="0" smtClean="0"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ea typeface="黑体" pitchFamily="49" charset="-122"/>
              </a:rPr>
              <a:t>D-Bus </a:t>
            </a:r>
            <a:r>
              <a:rPr lang="en-US" altLang="zh-CN" dirty="0">
                <a:ea typeface="黑体" pitchFamily="49" charset="-122"/>
              </a:rPr>
              <a:t>is designed for two specific use cases:</a:t>
            </a:r>
          </a:p>
          <a:p>
            <a:pPr lvl="1">
              <a:spcBef>
                <a:spcPts val="600"/>
              </a:spcBef>
            </a:pPr>
            <a:r>
              <a:rPr lang="zh-CN" altLang="en-US" dirty="0" smtClean="0">
                <a:ea typeface="黑体" pitchFamily="49" charset="-122"/>
              </a:rPr>
              <a:t>系统总线，</a:t>
            </a:r>
            <a:r>
              <a:rPr lang="en-US" altLang="zh-CN" dirty="0">
                <a:ea typeface="黑体" pitchFamily="49" charset="-122"/>
              </a:rPr>
              <a:t> system </a:t>
            </a:r>
            <a:r>
              <a:rPr lang="en-US" altLang="zh-CN" dirty="0" smtClean="0">
                <a:ea typeface="黑体" pitchFamily="49" charset="-122"/>
              </a:rPr>
              <a:t>bus, system daemon (for </a:t>
            </a:r>
            <a:r>
              <a:rPr lang="en-US" altLang="zh-CN" dirty="0">
                <a:ea typeface="黑体" pitchFamily="49" charset="-122"/>
              </a:rPr>
              <a:t>events such as "new hardware device added" or "printer queue changed</a:t>
            </a:r>
            <a:r>
              <a:rPr lang="en-US" altLang="zh-CN" dirty="0" smtClean="0">
                <a:ea typeface="黑体" pitchFamily="49" charset="-122"/>
              </a:rPr>
              <a:t>")</a:t>
            </a:r>
          </a:p>
          <a:p>
            <a:pPr lvl="1">
              <a:spcBef>
                <a:spcPts val="600"/>
              </a:spcBef>
            </a:pPr>
            <a:r>
              <a:rPr lang="zh-CN" altLang="en-US" dirty="0">
                <a:ea typeface="黑体" pitchFamily="49" charset="-122"/>
              </a:rPr>
              <a:t>会话</a:t>
            </a:r>
            <a:r>
              <a:rPr lang="zh-CN" altLang="en-US" dirty="0" smtClean="0">
                <a:ea typeface="黑体" pitchFamily="49" charset="-122"/>
              </a:rPr>
              <a:t>总线 ，</a:t>
            </a:r>
            <a:r>
              <a:rPr lang="en-US" altLang="zh-CN" dirty="0" smtClean="0">
                <a:ea typeface="黑体" pitchFamily="49" charset="-122"/>
              </a:rPr>
              <a:t>session bus</a:t>
            </a:r>
            <a:r>
              <a:rPr lang="zh-CN" altLang="en-US" dirty="0" smtClean="0">
                <a:ea typeface="黑体" pitchFamily="49" charset="-122"/>
              </a:rPr>
              <a:t>， </a:t>
            </a:r>
            <a:r>
              <a:rPr lang="en-US" altLang="zh-CN" dirty="0" smtClean="0">
                <a:ea typeface="黑体" pitchFamily="49" charset="-122"/>
              </a:rPr>
              <a:t>a </a:t>
            </a:r>
            <a:r>
              <a:rPr lang="en-US" altLang="zh-CN" dirty="0">
                <a:ea typeface="黑体" pitchFamily="49" charset="-122"/>
              </a:rPr>
              <a:t>per-user-login-session daemon (for general IPC needs among user applications). </a:t>
            </a:r>
            <a:endParaRPr lang="en-US" altLang="zh-CN" dirty="0" smtClean="0"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ea typeface="黑体" pitchFamily="49" charset="-122"/>
              </a:rPr>
              <a:t>Security: the system bus </a:t>
            </a:r>
            <a:r>
              <a:rPr lang="en-US" altLang="zh-CN" dirty="0">
                <a:ea typeface="黑体" pitchFamily="49" charset="-122"/>
              </a:rPr>
              <a:t>and </a:t>
            </a:r>
            <a:r>
              <a:rPr lang="en-US" altLang="zh-CN" dirty="0" smtClean="0">
                <a:ea typeface="黑体" pitchFamily="49" charset="-122"/>
              </a:rPr>
              <a:t>session bus </a:t>
            </a:r>
            <a:r>
              <a:rPr lang="en-US" altLang="zh-CN" dirty="0">
                <a:ea typeface="黑体" pitchFamily="49" charset="-122"/>
              </a:rPr>
              <a:t>are separate.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62217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D-Bus </a:t>
            </a:r>
            <a:r>
              <a:rPr lang="en-US" altLang="zh-CN" dirty="0"/>
              <a:t>has several </a:t>
            </a:r>
            <a:r>
              <a:rPr lang="en-US" altLang="zh-CN" dirty="0" smtClean="0"/>
              <a:t>layers:</a:t>
            </a:r>
          </a:p>
          <a:p>
            <a:pPr lvl="1"/>
            <a:r>
              <a:rPr lang="en-US" altLang="zh-CN" dirty="0" err="1" smtClean="0"/>
              <a:t>libdbus</a:t>
            </a:r>
            <a:r>
              <a:rPr lang="en-US" altLang="zh-CN" dirty="0" smtClean="0"/>
              <a:t> </a:t>
            </a:r>
            <a:r>
              <a:rPr lang="en-US" altLang="zh-CN" dirty="0"/>
              <a:t>allows two applications to connect to each other and exchange messages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A message bus daemon </a:t>
            </a:r>
            <a:r>
              <a:rPr lang="en-US" altLang="zh-CN" dirty="0" smtClean="0"/>
              <a:t>can </a:t>
            </a:r>
            <a:r>
              <a:rPr lang="en-US" altLang="zh-CN" dirty="0"/>
              <a:t>route messages from one application to zero or more other applications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lvl="1"/>
            <a:r>
              <a:rPr lang="en-US" altLang="zh-CN" dirty="0" err="1" smtClean="0"/>
              <a:t>Dbus</a:t>
            </a:r>
            <a:r>
              <a:rPr lang="en-US" altLang="zh-CN" dirty="0" smtClean="0"/>
              <a:t> </a:t>
            </a:r>
            <a:r>
              <a:rPr lang="en-US" altLang="zh-CN" dirty="0"/>
              <a:t>bindings </a:t>
            </a:r>
            <a:r>
              <a:rPr lang="en-US" altLang="zh-CN" dirty="0" smtClean="0"/>
              <a:t>for </a:t>
            </a:r>
            <a:r>
              <a:rPr lang="en-US" altLang="zh-CN" dirty="0"/>
              <a:t>particular application frameworks. For example, </a:t>
            </a:r>
            <a:r>
              <a:rPr lang="en-US" altLang="zh-CN" dirty="0" err="1"/>
              <a:t>libdbus</a:t>
            </a:r>
            <a:r>
              <a:rPr lang="en-US" altLang="zh-CN" dirty="0"/>
              <a:t>-glib and </a:t>
            </a:r>
            <a:r>
              <a:rPr lang="en-US" altLang="zh-CN" dirty="0" err="1" smtClean="0"/>
              <a:t>libdbus</a:t>
            </a:r>
            <a:r>
              <a:rPr lang="en-US" altLang="zh-CN" dirty="0" smtClean="0"/>
              <a:t>-qt</a:t>
            </a:r>
            <a:r>
              <a:rPr lang="en-US" altLang="zh-CN" dirty="0"/>
              <a:t>. </a:t>
            </a:r>
            <a:r>
              <a:rPr lang="en-US" altLang="zh-CN" dirty="0" err="1"/>
              <a:t>dbus</a:t>
            </a:r>
            <a:r>
              <a:rPr lang="en-US" altLang="zh-CN" dirty="0"/>
              <a:t>-python, Perl, C++, </a:t>
            </a:r>
            <a:r>
              <a:rPr lang="en-US" altLang="zh-CN" dirty="0" err="1"/>
              <a:t>php</a:t>
            </a:r>
            <a:r>
              <a:rPr lang="en-US" altLang="zh-CN" dirty="0"/>
              <a:t>, </a:t>
            </a:r>
            <a:r>
              <a:rPr lang="en-US" altLang="zh-CN" dirty="0" err="1"/>
              <a:t>.net</a:t>
            </a:r>
            <a:r>
              <a:rPr lang="en-US" altLang="zh-CN" dirty="0"/>
              <a:t>, ruby, and so on</a:t>
            </a:r>
            <a:r>
              <a:rPr lang="en-US" altLang="zh-CN" dirty="0" smtClean="0"/>
              <a:t>. </a:t>
            </a:r>
          </a:p>
          <a:p>
            <a:r>
              <a:rPr lang="en-US" altLang="zh-CN" dirty="0" err="1" smtClean="0"/>
              <a:t>libdbus</a:t>
            </a:r>
            <a:r>
              <a:rPr lang="en-US" altLang="zh-CN" dirty="0" smtClean="0"/>
              <a:t> </a:t>
            </a:r>
            <a:r>
              <a:rPr lang="en-US" altLang="zh-CN" dirty="0"/>
              <a:t>is not primarily designed for application authors to </a:t>
            </a:r>
            <a:r>
              <a:rPr lang="en-US" altLang="zh-CN" dirty="0" smtClean="0"/>
              <a:t>use</a:t>
            </a:r>
            <a:r>
              <a:rPr lang="en-US" altLang="zh-CN" dirty="0"/>
              <a:t>, it is a basis for binding authors. </a:t>
            </a:r>
            <a:endParaRPr lang="en-US" altLang="zh-CN" dirty="0" smtClean="0"/>
          </a:p>
          <a:p>
            <a:pPr marL="342900" lvl="1" indent="-342900">
              <a:spcBef>
                <a:spcPts val="800"/>
              </a:spcBef>
              <a:buClr>
                <a:srgbClr val="0000FF"/>
              </a:buClr>
              <a:buSzPct val="120000"/>
              <a:buFont typeface="Wingdings" pitchFamily="2" charset="2"/>
              <a:buChar char="§"/>
            </a:pPr>
            <a:r>
              <a:rPr lang="en-US" altLang="zh-CN" sz="2600" dirty="0" err="1" smtClean="0">
                <a:solidFill>
                  <a:srgbClr val="000000"/>
                </a:solidFill>
                <a:ea typeface="黑体" pitchFamily="2" charset="-122"/>
                <a:cs typeface="+mn-cs"/>
              </a:rPr>
              <a:t>Dbus</a:t>
            </a:r>
            <a:r>
              <a:rPr lang="en-US" altLang="zh-CN" sz="2600" dirty="0" smtClean="0">
                <a:solidFill>
                  <a:srgbClr val="000000"/>
                </a:solidFill>
                <a:ea typeface="黑体" pitchFamily="2" charset="-122"/>
                <a:cs typeface="+mn-cs"/>
              </a:rPr>
              <a:t>-binding simplify </a:t>
            </a:r>
            <a:r>
              <a:rPr lang="en-US" altLang="zh-CN" sz="2600" dirty="0">
                <a:solidFill>
                  <a:srgbClr val="000000"/>
                </a:solidFill>
                <a:ea typeface="黑体" pitchFamily="2" charset="-122"/>
                <a:cs typeface="+mn-cs"/>
              </a:rPr>
              <a:t>the details of D-Bus programming. </a:t>
            </a:r>
            <a:endParaRPr lang="zh-CN" altLang="en-US" sz="2600" dirty="0">
              <a:solidFill>
                <a:srgbClr val="000000"/>
              </a:solidFill>
              <a:ea typeface="黑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4354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There are also some </a:t>
            </a:r>
            <a:r>
              <a:rPr lang="en-US" altLang="zh-CN" dirty="0" err="1"/>
              <a:t>reimplementations</a:t>
            </a:r>
            <a:r>
              <a:rPr lang="en-US" altLang="zh-CN" dirty="0"/>
              <a:t> of the D-Bus protocol for languages such as C#, Java, and Ruby</a:t>
            </a:r>
            <a:r>
              <a:rPr lang="en-US" altLang="zh-CN" dirty="0" smtClean="0"/>
              <a:t>.</a:t>
            </a:r>
          </a:p>
          <a:p>
            <a:r>
              <a:rPr lang="en-US" altLang="zh-CN" dirty="0" err="1" smtClean="0"/>
              <a:t>GDBus</a:t>
            </a:r>
            <a:r>
              <a:rPr lang="en-US" altLang="zh-CN" dirty="0" smtClean="0"/>
              <a:t> doesn't </a:t>
            </a:r>
            <a:r>
              <a:rPr lang="en-US" altLang="zh-CN" dirty="0"/>
              <a:t>uses the </a:t>
            </a:r>
            <a:r>
              <a:rPr lang="en-US" altLang="zh-CN" dirty="0" err="1"/>
              <a:t>libdbus</a:t>
            </a:r>
            <a:r>
              <a:rPr lang="en-US" altLang="zh-CN" dirty="0"/>
              <a:t> reference implementation</a:t>
            </a:r>
            <a:r>
              <a:rPr lang="en-US" altLang="zh-CN" dirty="0" smtClean="0"/>
              <a:t>. </a:t>
            </a:r>
            <a:r>
              <a:rPr lang="en-US" altLang="zh-CN" dirty="0"/>
              <a:t>Instead, it relies on GIO streams as transport layer, and has its own implementation for the </a:t>
            </a:r>
            <a:r>
              <a:rPr lang="en-US" altLang="zh-CN" dirty="0" err="1"/>
              <a:t>the</a:t>
            </a:r>
            <a:r>
              <a:rPr lang="en-US" altLang="zh-CN" dirty="0"/>
              <a:t> D-Bus connection setup and authentication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Gnome.org: </a:t>
            </a:r>
            <a:r>
              <a:rPr lang="en-US" altLang="zh-CN" dirty="0" err="1"/>
              <a:t>GDBus</a:t>
            </a:r>
            <a:r>
              <a:rPr lang="en-US" altLang="zh-CN" dirty="0"/>
              <a:t> </a:t>
            </a:r>
            <a:r>
              <a:rPr lang="en-US" altLang="zh-CN" dirty="0" smtClean="0"/>
              <a:t>is going to replaced lib-</a:t>
            </a:r>
            <a:r>
              <a:rPr lang="en-US" altLang="zh-CN" dirty="0" err="1" smtClean="0"/>
              <a:t>dbus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D-Bus</a:t>
            </a:r>
            <a:r>
              <a:rPr lang="zh-CN" altLang="en-US" dirty="0" smtClean="0"/>
              <a:t>参考资料</a:t>
            </a:r>
            <a:endParaRPr lang="en-US" altLang="zh-CN" dirty="0" smtClean="0"/>
          </a:p>
          <a:p>
            <a:pPr lvl="1"/>
            <a:r>
              <a:rPr lang="en-US" altLang="zh-CN" dirty="0"/>
              <a:t>http://dbus.freedesktop.org/doc/dbus-tutorial.html</a:t>
            </a:r>
          </a:p>
          <a:p>
            <a:pPr lvl="1"/>
            <a:r>
              <a:rPr lang="en-US" altLang="zh-CN" dirty="0"/>
              <a:t>http://dbus.freedesktop.org/doc/dbus-specification.html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78679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Bus Names</a:t>
            </a:r>
          </a:p>
          <a:p>
            <a:pPr lvl="1"/>
            <a:r>
              <a:rPr lang="en-US" altLang="zh-CN" sz="2200" dirty="0">
                <a:solidFill>
                  <a:srgbClr val="0000FF"/>
                </a:solidFill>
                <a:ea typeface="+mn-ea"/>
              </a:rPr>
              <a:t>When each application connects to the bus daemon, the daemon immediately assigns it a name, called the unique connection name.</a:t>
            </a:r>
          </a:p>
          <a:p>
            <a:pPr lvl="1"/>
            <a:r>
              <a:rPr lang="en-US" altLang="zh-CN" sz="2200" dirty="0" smtClean="0">
                <a:solidFill>
                  <a:srgbClr val="0000FF"/>
                </a:solidFill>
                <a:ea typeface="+mn-ea"/>
              </a:rPr>
              <a:t>Applications may ask to own additional well-known names. For example, you could write a specification to define a name called </a:t>
            </a:r>
            <a:r>
              <a:rPr lang="en-US" altLang="zh-CN" sz="2200" dirty="0" err="1" smtClean="0">
                <a:solidFill>
                  <a:srgbClr val="0000FF"/>
                </a:solidFill>
                <a:ea typeface="+mn-ea"/>
              </a:rPr>
              <a:t>com.mycompany.TextEditor</a:t>
            </a:r>
            <a:r>
              <a:rPr lang="en-US" altLang="zh-CN" b="0" dirty="0" smtClean="0"/>
              <a:t>.</a:t>
            </a:r>
          </a:p>
          <a:p>
            <a:r>
              <a:rPr lang="en-US" altLang="zh-CN" dirty="0"/>
              <a:t>Queued Name Owner</a:t>
            </a:r>
          </a:p>
          <a:p>
            <a:pPr lvl="1"/>
            <a:r>
              <a:rPr lang="en-US" altLang="zh-CN" sz="2200" dirty="0"/>
              <a:t>Each bus name has a primary owner; messages sent to the name go to the primary owner</a:t>
            </a:r>
            <a:r>
              <a:rPr lang="en-US" altLang="zh-CN" sz="2200" dirty="0" smtClean="0"/>
              <a:t>.</a:t>
            </a:r>
          </a:p>
          <a:p>
            <a:pPr lvl="1"/>
            <a:r>
              <a:rPr lang="en-US" altLang="zh-CN" sz="2200" dirty="0" smtClean="0"/>
              <a:t>If </a:t>
            </a:r>
            <a:r>
              <a:rPr lang="en-US" altLang="zh-CN" sz="2200" dirty="0"/>
              <a:t>the primary owner releases the name, then the first secondary owner in the queue automatically becomes the new owner of the name.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7278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 smtClean="0"/>
              <a:t>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Object Paths and Native Objects</a:t>
            </a:r>
            <a:endParaRPr lang="en-US" altLang="zh-CN" dirty="0" smtClean="0"/>
          </a:p>
          <a:p>
            <a:pPr lvl="1"/>
            <a:r>
              <a:rPr lang="en-US" altLang="zh-CN" sz="2200" dirty="0" smtClean="0"/>
              <a:t>Native Object is a object defined in server side, such as </a:t>
            </a:r>
            <a:r>
              <a:rPr lang="en-US" altLang="zh-CN" sz="2200" dirty="0" err="1" smtClean="0"/>
              <a:t>java.lang.Object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GObject</a:t>
            </a:r>
            <a:r>
              <a:rPr lang="en-US" altLang="zh-CN" sz="2200" dirty="0"/>
              <a:t>, </a:t>
            </a:r>
            <a:r>
              <a:rPr lang="en-US" altLang="zh-CN" sz="2200" dirty="0" err="1" smtClean="0"/>
              <a:t>Qobject</a:t>
            </a:r>
            <a:r>
              <a:rPr lang="en-US" altLang="zh-CN" sz="2200" dirty="0" smtClean="0"/>
              <a:t>, </a:t>
            </a:r>
            <a:r>
              <a:rPr lang="en-US" altLang="zh-CN" sz="2200" dirty="0" err="1" smtClean="0"/>
              <a:t>DBusMessage</a:t>
            </a:r>
            <a:r>
              <a:rPr lang="en-US" altLang="zh-CN" sz="2200" dirty="0" smtClean="0"/>
              <a:t>, depending on the binding language used.</a:t>
            </a:r>
            <a:endParaRPr lang="en-US" altLang="zh-CN" sz="2200" dirty="0"/>
          </a:p>
          <a:p>
            <a:pPr lvl="1"/>
            <a:r>
              <a:rPr lang="en-US" altLang="zh-CN" sz="2200" dirty="0" smtClean="0"/>
              <a:t>The </a:t>
            </a:r>
            <a:r>
              <a:rPr lang="en-US" altLang="zh-CN" sz="2200" dirty="0"/>
              <a:t>idea of an object path is that higher-level bindings can name native object instances, and allow remote applications to </a:t>
            </a:r>
            <a:r>
              <a:rPr lang="en-US" altLang="zh-CN" sz="2200" dirty="0" smtClean="0"/>
              <a:t>refer </a:t>
            </a:r>
            <a:r>
              <a:rPr lang="en-US" altLang="zh-CN" sz="2200" dirty="0"/>
              <a:t>to them</a:t>
            </a:r>
            <a:r>
              <a:rPr lang="en-US" altLang="zh-CN" sz="2200" dirty="0" smtClean="0"/>
              <a:t>.</a:t>
            </a:r>
          </a:p>
          <a:p>
            <a:r>
              <a:rPr lang="en-US" altLang="zh-CN" dirty="0" smtClean="0"/>
              <a:t>Methods </a:t>
            </a:r>
            <a:r>
              <a:rPr lang="en-US" altLang="zh-CN" dirty="0"/>
              <a:t>and </a:t>
            </a:r>
            <a:r>
              <a:rPr lang="en-US" altLang="zh-CN" dirty="0" smtClean="0"/>
              <a:t>Signals (</a:t>
            </a:r>
            <a:r>
              <a:rPr lang="en-US" altLang="zh-CN" dirty="0"/>
              <a:t>Object </a:t>
            </a:r>
            <a:r>
              <a:rPr lang="en-US" altLang="zh-CN" dirty="0" smtClean="0"/>
              <a:t>members)</a:t>
            </a:r>
          </a:p>
          <a:p>
            <a:pPr lvl="1"/>
            <a:r>
              <a:rPr lang="en-US" altLang="zh-CN" sz="2200" dirty="0"/>
              <a:t>Methods are operations that can be invoked on an object, with optional input (aka arguments or "in parameters") and output (aka return values or "out parameters"). </a:t>
            </a:r>
            <a:endParaRPr lang="en-US" altLang="zh-CN" sz="2200" dirty="0" smtClean="0"/>
          </a:p>
          <a:p>
            <a:pPr lvl="1"/>
            <a:r>
              <a:rPr lang="en-US" altLang="zh-CN" sz="2200" dirty="0" smtClean="0"/>
              <a:t>Signals </a:t>
            </a:r>
            <a:r>
              <a:rPr lang="en-US" altLang="zh-CN" sz="2200" dirty="0"/>
              <a:t>are broadcasts from the object to any interested observers of the object; signals may contain a data payload.</a:t>
            </a: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14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Interfaces</a:t>
            </a:r>
          </a:p>
          <a:p>
            <a:pPr lvl="1"/>
            <a:r>
              <a:rPr lang="en-US" altLang="zh-CN" dirty="0"/>
              <a:t>Think of an interface as a named group of methods and signals, just as it is in </a:t>
            </a:r>
            <a:r>
              <a:rPr lang="en-US" altLang="zh-CN" dirty="0" err="1"/>
              <a:t>GLib</a:t>
            </a:r>
            <a:r>
              <a:rPr lang="en-US" altLang="zh-CN" dirty="0"/>
              <a:t> or </a:t>
            </a:r>
            <a:r>
              <a:rPr lang="en-US" altLang="zh-CN" dirty="0" err="1"/>
              <a:t>Qt</a:t>
            </a:r>
            <a:r>
              <a:rPr lang="en-US" altLang="zh-CN" dirty="0"/>
              <a:t> or Java. Interfaces define the type of an object instance.</a:t>
            </a:r>
          </a:p>
          <a:p>
            <a:pPr lvl="1"/>
            <a:r>
              <a:rPr lang="en-US" altLang="zh-CN" dirty="0"/>
              <a:t>Most bindings will map these interface names directly to the appropriate programming language construct, for example to Java interfaces or C++ pure virtual classes.</a:t>
            </a:r>
          </a:p>
          <a:p>
            <a:pPr lvl="1"/>
            <a:r>
              <a:rPr lang="en-US" altLang="zh-CN" dirty="0"/>
              <a:t>Each object supports one or more </a:t>
            </a:r>
            <a:r>
              <a:rPr lang="en-US" altLang="zh-CN" dirty="0" smtClean="0"/>
              <a:t>interfaces</a:t>
            </a:r>
          </a:p>
          <a:p>
            <a:r>
              <a:rPr lang="en-US" altLang="zh-CN" dirty="0" smtClean="0"/>
              <a:t>Interface is important for language binding. It is </a:t>
            </a:r>
            <a:r>
              <a:rPr lang="en-US" altLang="zh-CN" dirty="0"/>
              <a:t>used for Mapping method calls to native </a:t>
            </a:r>
            <a:r>
              <a:rPr lang="en-US" altLang="zh-CN" dirty="0" smtClean="0"/>
              <a:t>APIs.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53621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8950" y="1412875"/>
            <a:ext cx="8928100" cy="3888333"/>
          </a:xfrm>
        </p:spPr>
        <p:txBody>
          <a:bodyPr/>
          <a:lstStyle/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宋体"/>
                <a:cs typeface="Times New Roman"/>
              </a:rPr>
              <a:t>&lt;?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xml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version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"1.0"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encoding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"UTF-8"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宋体"/>
                <a:cs typeface="Times New Roman"/>
              </a:rPr>
              <a:t>?&gt;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&lt;node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"/"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&lt;interface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org.ztb.Test</a:t>
            </a:r>
            <a:r>
              <a:rPr lang="en-US" altLang="zh-CN" sz="20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&lt;method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"Add"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arg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"arg0"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type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i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/&gt;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arg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"arg1"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type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i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/&gt;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arg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"ret"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type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i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direction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"out"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/&gt;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&lt;/method&gt;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&lt;!-- Mark the signal as exported --&gt;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&lt;signal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name</a:t>
            </a: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HelloSignal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"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/&gt;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&lt;/interface&gt;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  <a:p>
            <a:pPr marL="288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&lt;/node</a:t>
            </a:r>
            <a:r>
              <a:rPr lang="en-US" altLang="zh-CN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宋体"/>
                <a:cs typeface="Times New Roman"/>
              </a:rPr>
              <a:t>&gt;</a:t>
            </a:r>
            <a:endParaRPr lang="zh-CN" altLang="zh-CN" sz="2000" kern="100" dirty="0">
              <a:latin typeface="Calibri"/>
              <a:ea typeface="宋体"/>
              <a:cs typeface="Times New Roman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332790" y="5517232"/>
            <a:ext cx="9548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/>
            <a:r>
              <a:rPr lang="en-US" altLang="zh-CN" sz="2000" dirty="0" err="1">
                <a:solidFill>
                  <a:srgbClr val="000000"/>
                </a:solidFill>
              </a:rPr>
              <a:t>dbus</a:t>
            </a:r>
            <a:r>
              <a:rPr lang="en-US" altLang="zh-CN" sz="2000" dirty="0">
                <a:solidFill>
                  <a:srgbClr val="000000"/>
                </a:solidFill>
              </a:rPr>
              <a:t>-binding-tool  --prefix=</a:t>
            </a:r>
            <a:r>
              <a:rPr lang="en-US" altLang="zh-CN" sz="2000" dirty="0" err="1">
                <a:solidFill>
                  <a:srgbClr val="000000"/>
                </a:solidFill>
              </a:rPr>
              <a:t>test_object</a:t>
            </a:r>
            <a:r>
              <a:rPr lang="en-US" altLang="zh-CN" sz="2000" dirty="0">
                <a:solidFill>
                  <a:srgbClr val="000000"/>
                </a:solidFill>
              </a:rPr>
              <a:t> --mode=glib-server --output=example-signal-emitter-</a:t>
            </a:r>
            <a:r>
              <a:rPr lang="en-US" altLang="zh-CN" sz="2000" dirty="0" err="1">
                <a:solidFill>
                  <a:srgbClr val="000000"/>
                </a:solidFill>
              </a:rPr>
              <a:t>glue.h</a:t>
            </a:r>
            <a:r>
              <a:rPr lang="en-US" altLang="zh-CN" sz="2000" dirty="0">
                <a:solidFill>
                  <a:srgbClr val="000000"/>
                </a:solidFill>
              </a:rPr>
              <a:t> ./example-signal-emitter.xml</a:t>
            </a:r>
            <a:endParaRPr lang="zh-CN" altLang="en-US" sz="2000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3455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Messages</a:t>
            </a:r>
          </a:p>
          <a:p>
            <a:pPr lvl="1"/>
            <a:r>
              <a:rPr lang="en-US" altLang="zh-CN" dirty="0" smtClean="0"/>
              <a:t>Message is the basic unit travelled on bus daemon.</a:t>
            </a:r>
          </a:p>
          <a:p>
            <a:pPr lvl="1"/>
            <a:r>
              <a:rPr lang="en-US" altLang="zh-CN" dirty="0"/>
              <a:t>Each message has a header, including fields, and a body, including arguments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/>
              <a:t>There are 4 message </a:t>
            </a:r>
            <a:r>
              <a:rPr lang="en-US" altLang="zh-CN" dirty="0" err="1"/>
              <a:t>types:Method</a:t>
            </a:r>
            <a:r>
              <a:rPr lang="en-US" altLang="zh-CN" dirty="0"/>
              <a:t> call, Method return, Signal messages, Error messages</a:t>
            </a:r>
            <a:r>
              <a:rPr lang="en-US" altLang="zh-CN" dirty="0" smtClean="0"/>
              <a:t>.</a:t>
            </a:r>
            <a:endParaRPr lang="en-US" altLang="zh-CN" b="0" dirty="0"/>
          </a:p>
          <a:p>
            <a:r>
              <a:rPr lang="en-US" altLang="zh-CN" dirty="0"/>
              <a:t>marshaling and </a:t>
            </a:r>
            <a:r>
              <a:rPr lang="en-US" altLang="zh-CN" dirty="0" err="1"/>
              <a:t>unmarshaling</a:t>
            </a:r>
            <a:endParaRPr lang="en-US" altLang="zh-CN" dirty="0"/>
          </a:p>
          <a:p>
            <a:pPr lvl="1"/>
            <a:r>
              <a:rPr lang="en-US" altLang="zh-CN" sz="2200" dirty="0"/>
              <a:t>D-Bus has a type system, in which values of various types can be serialized into a sequence of bytes referred to as the wire format in a standard way. </a:t>
            </a:r>
          </a:p>
          <a:p>
            <a:pPr lvl="1"/>
            <a:r>
              <a:rPr lang="en-US" altLang="zh-CN" sz="2200" dirty="0"/>
              <a:t>Converting a value from some other representation into the wire format is called marshaling </a:t>
            </a:r>
          </a:p>
          <a:p>
            <a:pPr lvl="1"/>
            <a:r>
              <a:rPr lang="en-US" altLang="zh-CN" sz="2200" dirty="0"/>
              <a:t>converting it back from the wire format is </a:t>
            </a:r>
            <a:r>
              <a:rPr lang="en-US" altLang="zh-CN" sz="2200" dirty="0" err="1"/>
              <a:t>unmarshaling</a:t>
            </a:r>
            <a:r>
              <a:rPr lang="en-US" altLang="zh-CN" sz="2200" dirty="0"/>
              <a:t>.</a:t>
            </a:r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46116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Proxies</a:t>
            </a:r>
          </a:p>
          <a:p>
            <a:pPr lvl="1"/>
            <a:r>
              <a:rPr lang="en-US" altLang="zh-CN" dirty="0"/>
              <a:t>A proxy object is a convenient native object created to represent a remote object in another process.</a:t>
            </a:r>
          </a:p>
          <a:p>
            <a:pPr marL="457200" lvl="1" indent="0"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Proxy </a:t>
            </a:r>
            <a:r>
              <a:rPr lang="en-US" altLang="zh-CN" sz="1800" dirty="0" err="1">
                <a:solidFill>
                  <a:srgbClr val="000000"/>
                </a:solidFill>
              </a:rPr>
              <a:t>proxy</a:t>
            </a:r>
            <a:r>
              <a:rPr lang="en-US" altLang="zh-CN" sz="1800" dirty="0">
                <a:solidFill>
                  <a:srgbClr val="000000"/>
                </a:solidFill>
              </a:rPr>
              <a:t> = new Proxy(</a:t>
            </a:r>
            <a:r>
              <a:rPr lang="en-US" altLang="zh-CN" sz="1800" dirty="0" err="1">
                <a:solidFill>
                  <a:srgbClr val="000000"/>
                </a:solidFill>
              </a:rPr>
              <a:t>getBusConnection</a:t>
            </a:r>
            <a:r>
              <a:rPr lang="en-US" altLang="zh-CN" sz="1800" dirty="0">
                <a:solidFill>
                  <a:srgbClr val="000000"/>
                </a:solidFill>
              </a:rPr>
              <a:t>(), "/remote/object/path");</a:t>
            </a:r>
          </a:p>
          <a:p>
            <a:pPr marL="457200" lvl="1" indent="0">
              <a:buNone/>
            </a:pPr>
            <a:r>
              <a:rPr lang="en-US" altLang="zh-CN" sz="1800" dirty="0" smtClean="0">
                <a:solidFill>
                  <a:srgbClr val="000000"/>
                </a:solidFill>
              </a:rPr>
              <a:t>Object </a:t>
            </a:r>
            <a:r>
              <a:rPr lang="en-US" altLang="zh-CN" sz="1800" dirty="0" err="1">
                <a:solidFill>
                  <a:srgbClr val="000000"/>
                </a:solidFill>
              </a:rPr>
              <a:t>returnValue</a:t>
            </a:r>
            <a:r>
              <a:rPr lang="en-US" altLang="zh-CN" sz="1800" dirty="0">
                <a:solidFill>
                  <a:srgbClr val="000000"/>
                </a:solidFill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</a:rPr>
              <a:t>proxy.MethodName</a:t>
            </a:r>
            <a:r>
              <a:rPr lang="en-US" altLang="zh-CN" sz="1800" dirty="0">
                <a:solidFill>
                  <a:srgbClr val="000000"/>
                </a:solidFill>
              </a:rPr>
              <a:t>(arg1, arg2</a:t>
            </a:r>
            <a:r>
              <a:rPr lang="en-US" altLang="zh-CN" sz="1800" dirty="0" smtClean="0">
                <a:solidFill>
                  <a:srgbClr val="000000"/>
                </a:solidFill>
              </a:rPr>
              <a:t>);</a:t>
            </a:r>
          </a:p>
          <a:p>
            <a:r>
              <a:rPr lang="en-US" altLang="zh-CN" dirty="0" smtClean="0"/>
              <a:t>How to Mapping </a:t>
            </a:r>
            <a:r>
              <a:rPr lang="en-US" altLang="zh-CN" dirty="0"/>
              <a:t>method calls to native APIs</a:t>
            </a:r>
          </a:p>
          <a:p>
            <a:pPr marL="457200" lvl="1" indent="0">
              <a:buNone/>
            </a:pPr>
            <a:endParaRPr lang="en-US" altLang="zh-CN" sz="1800" dirty="0" smtClean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zh-CN" altLang="en-US" sz="1800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609312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Process of Method-Call on D-Bus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Method </a:t>
            </a:r>
            <a:r>
              <a:rPr lang="en-US" altLang="zh-CN" dirty="0"/>
              <a:t>call on </a:t>
            </a:r>
            <a:r>
              <a:rPr lang="en-US" altLang="zh-CN" dirty="0" smtClean="0"/>
              <a:t>an </a:t>
            </a:r>
            <a:r>
              <a:rPr lang="en-US" altLang="zh-CN" dirty="0"/>
              <a:t>object </a:t>
            </a:r>
            <a:r>
              <a:rPr lang="en-US" altLang="zh-CN" dirty="0" smtClean="0"/>
              <a:t>instance</a:t>
            </a:r>
          </a:p>
          <a:p>
            <a:pPr lvl="1"/>
            <a:r>
              <a:rPr lang="en-US" altLang="zh-CN" dirty="0" smtClean="0"/>
              <a:t>Address </a:t>
            </a:r>
            <a:r>
              <a:rPr lang="en-US" altLang="zh-CN" dirty="0"/>
              <a:t>-&gt; [Bus Name] -&gt; Path -&gt; Interface -&gt; Method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1026" name="Picture 2" descr="C:\Users\wxf\Desktop\Method_call_on_an_object_instan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16" y="2492896"/>
            <a:ext cx="708742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2937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D-Bus</a:t>
            </a:r>
            <a:r>
              <a:rPr lang="zh-CN" altLang="en-US" dirty="0"/>
              <a:t>相关</a:t>
            </a:r>
            <a:r>
              <a:rPr lang="zh-CN" altLang="en-US" dirty="0" smtClean="0"/>
              <a:t>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D-feet</a:t>
            </a:r>
          </a:p>
          <a:p>
            <a:pPr lvl="1"/>
            <a:r>
              <a:rPr lang="en-US" altLang="zh-CN" dirty="0"/>
              <a:t>D-Feet is an easy to use D-Bus debugger.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D-Feet </a:t>
            </a:r>
            <a:r>
              <a:rPr lang="en-US" altLang="zh-CN" dirty="0"/>
              <a:t>can be used to inspect D-Bus </a:t>
            </a:r>
            <a:r>
              <a:rPr lang="en-US" altLang="zh-CN" dirty="0" smtClean="0"/>
              <a:t>interfaces and names </a:t>
            </a:r>
            <a:r>
              <a:rPr lang="en-US" altLang="zh-CN" dirty="0"/>
              <a:t>of running programs and invoke methods on those interfaces</a:t>
            </a:r>
            <a:r>
              <a:rPr lang="en-US" altLang="zh-CN" dirty="0" smtClean="0"/>
              <a:t>.</a:t>
            </a:r>
          </a:p>
          <a:p>
            <a:r>
              <a:rPr lang="en-US" altLang="zh-CN" dirty="0" err="1" smtClean="0"/>
              <a:t>dbus</a:t>
            </a:r>
            <a:r>
              <a:rPr lang="en-US" altLang="zh-CN" dirty="0" smtClean="0"/>
              <a:t>-monitor</a:t>
            </a:r>
          </a:p>
          <a:p>
            <a:r>
              <a:rPr lang="en-US" altLang="zh-CN" dirty="0" err="1" smtClean="0"/>
              <a:t>dbus</a:t>
            </a:r>
            <a:r>
              <a:rPr lang="en-US" altLang="zh-CN" dirty="0" smtClean="0"/>
              <a:t>-send</a:t>
            </a:r>
          </a:p>
          <a:p>
            <a:pPr lvl="1"/>
            <a:r>
              <a:rPr lang="en-US" altLang="zh-CN" dirty="0" err="1"/>
              <a:t>dbus</a:t>
            </a:r>
            <a:r>
              <a:rPr lang="en-US" altLang="zh-CN" dirty="0"/>
              <a:t>-send --session --type=</a:t>
            </a:r>
            <a:r>
              <a:rPr lang="en-US" altLang="zh-CN" dirty="0" err="1"/>
              <a:t>method_call</a:t>
            </a:r>
            <a:r>
              <a:rPr lang="en-US" altLang="zh-CN" dirty="0"/>
              <a:t> --print-reply --</a:t>
            </a:r>
            <a:r>
              <a:rPr lang="en-US" altLang="zh-CN" dirty="0" err="1"/>
              <a:t>dest</a:t>
            </a:r>
            <a:r>
              <a:rPr lang="en-US" altLang="zh-CN" dirty="0"/>
              <a:t>=</a:t>
            </a:r>
            <a:r>
              <a:rPr lang="en-US" altLang="zh-CN" dirty="0" err="1"/>
              <a:t>org.ztb.Test</a:t>
            </a:r>
            <a:r>
              <a:rPr lang="en-US" altLang="zh-CN" dirty="0"/>
              <a:t> /</a:t>
            </a:r>
            <a:r>
              <a:rPr lang="en-US" altLang="zh-CN" dirty="0" err="1"/>
              <a:t>TestObj</a:t>
            </a:r>
            <a:r>
              <a:rPr lang="en-US" altLang="zh-CN" dirty="0"/>
              <a:t> </a:t>
            </a:r>
            <a:r>
              <a:rPr lang="en-US" altLang="zh-CN" dirty="0" err="1"/>
              <a:t>org.fmddlmyy.Test.Basic.Add</a:t>
            </a:r>
            <a:r>
              <a:rPr lang="en-US" altLang="zh-CN" dirty="0"/>
              <a:t> int32:100 int32:999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99352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node-</a:t>
            </a:r>
            <a:r>
              <a:rPr lang="en-US" altLang="zh-CN" dirty="0" err="1" smtClean="0"/>
              <a:t>dbus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It’s unlikely that D-Bus is (or will be) a popular solution for IPC with Node developers, but it does allow us to integrate more tightly with desktop environments.(</a:t>
            </a:r>
            <a:r>
              <a:rPr lang="en-US" altLang="zh-CN" dirty="0">
                <a:solidFill>
                  <a:srgbClr val="CC3300"/>
                </a:solidFill>
                <a:hlinkClick r:id="rId2"/>
              </a:rPr>
              <a:t>http://dailyjs.com/2012/04/26/node-unix-ipc</a:t>
            </a:r>
            <a:r>
              <a:rPr lang="en-US" altLang="zh-CN" dirty="0" smtClean="0">
                <a:solidFill>
                  <a:srgbClr val="CC3300"/>
                </a:solidFill>
                <a:hlinkClick r:id="rId2"/>
              </a:rPr>
              <a:t>/</a:t>
            </a:r>
            <a:r>
              <a:rPr lang="en-US" altLang="zh-CN" dirty="0" smtClean="0"/>
              <a:t>)</a:t>
            </a:r>
          </a:p>
          <a:p>
            <a:r>
              <a:rPr lang="en-US" altLang="zh-CN" dirty="0"/>
              <a:t>The two most popular Node implementations are node-</a:t>
            </a:r>
            <a:r>
              <a:rPr lang="en-US" altLang="zh-CN" dirty="0" err="1"/>
              <a:t>dbus</a:t>
            </a:r>
            <a:r>
              <a:rPr lang="en-US" altLang="zh-CN" dirty="0"/>
              <a:t> </a:t>
            </a:r>
            <a:r>
              <a:rPr lang="en-US" altLang="zh-CN" dirty="0" smtClean="0"/>
              <a:t>They’re built </a:t>
            </a:r>
            <a:r>
              <a:rPr lang="en-US" altLang="zh-CN" dirty="0"/>
              <a:t>using C++ extensions that wrap around the </a:t>
            </a:r>
            <a:r>
              <a:rPr lang="en-US" altLang="zh-CN" dirty="0" err="1"/>
              <a:t>libdbus</a:t>
            </a:r>
            <a:r>
              <a:rPr lang="en-US" altLang="zh-CN" dirty="0"/>
              <a:t> APIs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>
                <a:hlinkClick r:id="rId3"/>
              </a:rPr>
              <a:t>https://www.npmjs.org/package/node-dbus</a:t>
            </a:r>
            <a:endParaRPr lang="en-US" altLang="zh-CN" dirty="0"/>
          </a:p>
          <a:p>
            <a:pPr lvl="1"/>
            <a:r>
              <a:rPr lang="en-US" altLang="zh-CN" dirty="0">
                <a:hlinkClick r:id="rId4"/>
              </a:rPr>
              <a:t>https://github.com/Shouqun/node-dbus</a:t>
            </a:r>
            <a:endParaRPr lang="en-US" altLang="zh-CN" dirty="0"/>
          </a:p>
          <a:p>
            <a:pPr lvl="1"/>
            <a:r>
              <a:rPr lang="en-US" altLang="zh-CN" dirty="0">
                <a:hlinkClick r:id="rId5"/>
              </a:rPr>
              <a:t>https://</a:t>
            </a:r>
            <a:r>
              <a:rPr lang="en-US" altLang="zh-CN" dirty="0" smtClean="0">
                <a:hlinkClick r:id="rId5"/>
              </a:rPr>
              <a:t>github.com/Motorola-Mobility/node-dbus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034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node-</a:t>
            </a:r>
            <a:r>
              <a:rPr lang="en-US" altLang="zh-CN" dirty="0" err="1" smtClean="0"/>
              <a:t>dbus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8950" y="1412875"/>
            <a:ext cx="8928100" cy="5328493"/>
          </a:xfrm>
        </p:spPr>
        <p:txBody>
          <a:bodyPr/>
          <a:lstStyle/>
          <a:p>
            <a:r>
              <a:rPr lang="en-US" altLang="zh-CN" sz="2400" dirty="0" smtClean="0"/>
              <a:t>The </a:t>
            </a:r>
            <a:r>
              <a:rPr lang="en-US" altLang="zh-CN" sz="2400" dirty="0"/>
              <a:t>node-</a:t>
            </a:r>
            <a:r>
              <a:rPr lang="en-US" altLang="zh-CN" sz="2400" dirty="0" err="1"/>
              <a:t>dbus</a:t>
            </a:r>
            <a:r>
              <a:rPr lang="en-US" altLang="zh-CN" sz="2400" dirty="0"/>
              <a:t> project is a simple light-weight </a:t>
            </a:r>
            <a:r>
              <a:rPr lang="en-US" altLang="zh-CN" sz="2400" dirty="0" err="1"/>
              <a:t>NodeJS</a:t>
            </a:r>
            <a:r>
              <a:rPr lang="en-US" altLang="zh-CN" sz="2400" dirty="0"/>
              <a:t> based wrapper over some </a:t>
            </a:r>
            <a:r>
              <a:rPr lang="en-US" altLang="zh-CN" sz="2400" dirty="0" err="1"/>
              <a:t>libdbus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api's</a:t>
            </a:r>
            <a:r>
              <a:rPr lang="en-US" altLang="zh-CN" sz="2400" dirty="0"/>
              <a:t> which enables the developer to</a:t>
            </a:r>
            <a:r>
              <a:rPr lang="en-US" altLang="zh-CN" sz="2400" dirty="0" smtClean="0"/>
              <a:t>:</a:t>
            </a:r>
            <a:endParaRPr lang="en-US" altLang="zh-CN" sz="2400" dirty="0"/>
          </a:p>
          <a:p>
            <a:pPr lvl="1"/>
            <a:r>
              <a:rPr lang="en-US" altLang="zh-CN" sz="2000" dirty="0"/>
              <a:t>perform synchronous method-calls on a service provider</a:t>
            </a:r>
          </a:p>
          <a:p>
            <a:pPr lvl="1"/>
            <a:r>
              <a:rPr lang="en-US" altLang="zh-CN" sz="2000" dirty="0"/>
              <a:t>perform asynchronous method-calls on a service provider</a:t>
            </a:r>
          </a:p>
          <a:p>
            <a:pPr lvl="1"/>
            <a:r>
              <a:rPr lang="en-US" altLang="zh-CN" sz="2000" dirty="0"/>
              <a:t>send signals on the message bus</a:t>
            </a:r>
          </a:p>
          <a:p>
            <a:pPr lvl="1"/>
            <a:r>
              <a:rPr lang="en-US" altLang="zh-CN" sz="2000" dirty="0"/>
              <a:t>listen to signals </a:t>
            </a:r>
            <a:r>
              <a:rPr lang="en-US" altLang="zh-CN" sz="2000" dirty="0" err="1"/>
              <a:t>propogated</a:t>
            </a:r>
            <a:r>
              <a:rPr lang="en-US" altLang="zh-CN" sz="2000" dirty="0"/>
              <a:t> over the message </a:t>
            </a:r>
            <a:r>
              <a:rPr lang="en-US" altLang="zh-CN" sz="2000" dirty="0" smtClean="0"/>
              <a:t>bus</a:t>
            </a:r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Note </a:t>
            </a:r>
            <a:r>
              <a:rPr lang="en-US" altLang="zh-CN" sz="2400" dirty="0"/>
              <a:t>that it is not intended to be a full-blown one-to-one mapping of the </a:t>
            </a:r>
            <a:r>
              <a:rPr lang="en-US" altLang="zh-CN" sz="2400" dirty="0" err="1"/>
              <a:t>libdbus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api</a:t>
            </a:r>
            <a:r>
              <a:rPr lang="en-US" altLang="zh-CN" sz="2400" dirty="0"/>
              <a:t>. For that, you might want to look at node-</a:t>
            </a:r>
            <a:r>
              <a:rPr lang="en-US" altLang="zh-CN" sz="2400" dirty="0" err="1"/>
              <a:t>libdbus</a:t>
            </a:r>
            <a:r>
              <a:rPr lang="en-US" altLang="zh-CN" sz="2400" dirty="0"/>
              <a:t> which is relatively concrete</a:t>
            </a:r>
            <a:r>
              <a:rPr lang="en-US" altLang="zh-CN" sz="2400" dirty="0" smtClean="0"/>
              <a:t>.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https://github.com/agnat/node_libdbus</a:t>
            </a:r>
            <a:endParaRPr lang="zh-CN" altLang="en-US" dirty="0"/>
          </a:p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82949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</a:t>
            </a:r>
            <a:r>
              <a:rPr lang="en-US" altLang="zh-CN" dirty="0" err="1" smtClean="0"/>
              <a:t>o.dbus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go.dbus</a:t>
            </a:r>
            <a:r>
              <a:rPr lang="en-US" altLang="zh-CN" dirty="0"/>
              <a:t> is a simple library that implements native Go client bindings for the D-Bus message bus system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Features:</a:t>
            </a:r>
            <a:endParaRPr lang="en-US" altLang="zh-CN" dirty="0"/>
          </a:p>
          <a:p>
            <a:pPr lvl="1"/>
            <a:r>
              <a:rPr lang="en-US" altLang="zh-CN" dirty="0"/>
              <a:t>Complete native implementation of the D-Bus message protocol</a:t>
            </a:r>
          </a:p>
          <a:p>
            <a:pPr lvl="1"/>
            <a:r>
              <a:rPr lang="en-US" altLang="zh-CN" dirty="0"/>
              <a:t>Go-like API (channels for signals / asynchronous method calls, </a:t>
            </a:r>
            <a:r>
              <a:rPr lang="en-US" altLang="zh-CN" dirty="0" err="1"/>
              <a:t>Goroutine</a:t>
            </a:r>
            <a:r>
              <a:rPr lang="en-US" altLang="zh-CN" dirty="0"/>
              <a:t>-safe connections)</a:t>
            </a:r>
          </a:p>
          <a:p>
            <a:pPr lvl="1"/>
            <a:r>
              <a:rPr lang="en-US" altLang="zh-CN" dirty="0" err="1"/>
              <a:t>Subpackages</a:t>
            </a:r>
            <a:r>
              <a:rPr lang="en-US" altLang="zh-CN" dirty="0"/>
              <a:t> that help with the introspection / property </a:t>
            </a:r>
            <a:r>
              <a:rPr lang="en-US" altLang="zh-CN" dirty="0" smtClean="0"/>
              <a:t>interfaces</a:t>
            </a:r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env</a:t>
            </a:r>
            <a:r>
              <a:rPr lang="en-US" altLang="zh-CN" sz="2400" dirty="0"/>
              <a:t> GOPATH=/home/cos/</a:t>
            </a:r>
            <a:r>
              <a:rPr lang="en-US" altLang="zh-CN" sz="2400" dirty="0" err="1"/>
              <a:t>gocode</a:t>
            </a:r>
            <a:r>
              <a:rPr lang="en-US" altLang="zh-CN" sz="2400" dirty="0"/>
              <a:t> go get github.com/</a:t>
            </a:r>
            <a:r>
              <a:rPr lang="en-US" altLang="zh-CN" sz="2400" dirty="0" err="1"/>
              <a:t>guelfey</a:t>
            </a:r>
            <a:r>
              <a:rPr lang="en-US" altLang="zh-CN" sz="2400" dirty="0"/>
              <a:t>/</a:t>
            </a:r>
            <a:r>
              <a:rPr lang="en-US" altLang="zh-CN" sz="2400" dirty="0" err="1"/>
              <a:t>go.dbus</a:t>
            </a:r>
            <a:endParaRPr lang="en-US" altLang="zh-CN" sz="2400" dirty="0"/>
          </a:p>
          <a:p>
            <a:r>
              <a:rPr lang="en-US" altLang="zh-CN" sz="2400" dirty="0" err="1"/>
              <a:t>env</a:t>
            </a:r>
            <a:r>
              <a:rPr lang="en-US" altLang="zh-CN" sz="2400" dirty="0"/>
              <a:t> GOPATH=/home/cos/</a:t>
            </a:r>
            <a:r>
              <a:rPr lang="en-US" altLang="zh-CN" sz="2400" dirty="0" err="1"/>
              <a:t>gocode</a:t>
            </a:r>
            <a:r>
              <a:rPr lang="en-US" altLang="zh-CN" sz="2400" dirty="0"/>
              <a:t> go run </a:t>
            </a:r>
            <a:r>
              <a:rPr lang="en-US" altLang="zh-CN" sz="2400" dirty="0" smtClean="0"/>
              <a:t>list-</a:t>
            </a:r>
            <a:r>
              <a:rPr lang="en-US" altLang="zh-CN" sz="2400" dirty="0" err="1" smtClean="0"/>
              <a:t>names.go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887944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谢谢</a:t>
            </a:r>
            <a:r>
              <a:rPr lang="en-US" altLang="zh-CN" dirty="0" smtClean="0"/>
              <a:t>~</a:t>
            </a:r>
          </a:p>
          <a:p>
            <a:r>
              <a:rPr lang="en-US" altLang="zh-CN" dirty="0" smtClean="0"/>
              <a:t>Q&amp;A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EC8FD-091C-43FA-8D41-C6B74DF5FC7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4838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软件所模板-new">
  <a:themeElements>
    <a:clrScheme name="">
      <a:dk1>
        <a:srgbClr val="0033CC"/>
      </a:dk1>
      <a:lt1>
        <a:srgbClr val="FFFFFF"/>
      </a:lt1>
      <a:dk2>
        <a:srgbClr val="336699"/>
      </a:dk2>
      <a:lt2>
        <a:srgbClr val="008000"/>
      </a:lt2>
      <a:accent1>
        <a:srgbClr val="3366FF"/>
      </a:accent1>
      <a:accent2>
        <a:srgbClr val="FFFF66"/>
      </a:accent2>
      <a:accent3>
        <a:srgbClr val="FFFFFF"/>
      </a:accent3>
      <a:accent4>
        <a:srgbClr val="002AAE"/>
      </a:accent4>
      <a:accent5>
        <a:srgbClr val="ADB8FF"/>
      </a:accent5>
      <a:accent6>
        <a:srgbClr val="E7E75C"/>
      </a:accent6>
      <a:hlink>
        <a:srgbClr val="FF6600"/>
      </a:hlink>
      <a:folHlink>
        <a:srgbClr val="FFCC66"/>
      </a:folHlink>
    </a:clrScheme>
    <a:fontScheme name="通用信息 (标准)">
      <a:majorFont>
        <a:latin typeface="Arial Narrow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66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66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通用信息 (标准)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信息 (标准)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信息 (标准)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软件所模板-new</Template>
  <TotalTime>799</TotalTime>
  <Words>1197</Words>
  <Application>Microsoft Office PowerPoint</Application>
  <PresentationFormat>A4 纸张(210x297 毫米)</PresentationFormat>
  <Paragraphs>142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软件所模板-new</vt:lpstr>
      <vt:lpstr>PowerPoint 演示文稿</vt:lpstr>
      <vt:lpstr>目录</vt:lpstr>
      <vt:lpstr>D-Bus简介</vt:lpstr>
      <vt:lpstr>D-Bus简介</vt:lpstr>
      <vt:lpstr>D-Bus简介</vt:lpstr>
      <vt:lpstr>D-Bus简介</vt:lpstr>
      <vt:lpstr>D-Bus概念</vt:lpstr>
      <vt:lpstr>D-Bus概念</vt:lpstr>
      <vt:lpstr>D-Bus概念</vt:lpstr>
      <vt:lpstr>D-Bus概念</vt:lpstr>
      <vt:lpstr>D-Bus概念</vt:lpstr>
      <vt:lpstr>D-Bus概念</vt:lpstr>
      <vt:lpstr>Process of Method-Call on D-Bus</vt:lpstr>
      <vt:lpstr>D-Bus相关工具</vt:lpstr>
      <vt:lpstr>node-dbus</vt:lpstr>
      <vt:lpstr>node-dbus</vt:lpstr>
      <vt:lpstr>go.dbus</vt:lpstr>
      <vt:lpstr>PowerPoint 演示文稿</vt:lpstr>
    </vt:vector>
  </TitlesOfParts>
  <Company>wxf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D-Bus调研</dc:title>
  <dc:creator>wxf</dc:creator>
  <cp:lastModifiedBy>wxf</cp:lastModifiedBy>
  <cp:revision>148</cp:revision>
  <cp:lastPrinted>2011-09-02T04:24:48Z</cp:lastPrinted>
  <dcterms:created xsi:type="dcterms:W3CDTF">2014-08-19T08:54:01Z</dcterms:created>
  <dcterms:modified xsi:type="dcterms:W3CDTF">2014-08-20T07:48:38Z</dcterms:modified>
</cp:coreProperties>
</file>